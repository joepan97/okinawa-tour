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2d08e97faa4e39" /><Relationship Type="http://schemas.openxmlformats.org/officeDocument/2006/relationships/extended-properties" Target="/docProps/app.xml" Id="Rabe766300f5c48ab" /><Relationship Type="http://schemas.openxmlformats.org/officeDocument/2006/relationships/officeDocument" Target="/ppt/presentation.xml" Id="R8b167f38ba8c49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05b1ee02704b8d"/>
  </p:sldMasterIdLst>
  <p:notesMasterIdLst>
    <p:notesMasterId xmlns:r="http://schemas.openxmlformats.org/officeDocument/2006/relationships" r:id="Rc1e79ab7817b4d2f"/>
  </p:notesMasterIdLst>
  <p:sldIdLst>
    <p:sldId xmlns:r="http://schemas.openxmlformats.org/officeDocument/2006/relationships" id="256" r:id="R5be08b2922454675"/>
    <p:sldId xmlns:r="http://schemas.openxmlformats.org/officeDocument/2006/relationships" id="257" r:id="R21c966bfd1d94524"/>
    <p:sldId xmlns:r="http://schemas.openxmlformats.org/officeDocument/2006/relationships" id="258" r:id="Rc2c68d9d05954cce"/>
    <p:sldId xmlns:r="http://schemas.openxmlformats.org/officeDocument/2006/relationships" id="259" r:id="R8cea3381fa2a4ee3"/>
    <p:sldId xmlns:r="http://schemas.openxmlformats.org/officeDocument/2006/relationships" id="260" r:id="R4f6d35203d484c88"/>
    <p:sldId xmlns:r="http://schemas.openxmlformats.org/officeDocument/2006/relationships" id="261" r:id="R129350750de64c4e"/>
    <p:sldId xmlns:r="http://schemas.openxmlformats.org/officeDocument/2006/relationships" id="262" r:id="R2c3bee953e174880"/>
    <p:sldId xmlns:r="http://schemas.openxmlformats.org/officeDocument/2006/relationships" id="263" r:id="R27782ac7424e4e40"/>
    <p:sldId xmlns:r="http://schemas.openxmlformats.org/officeDocument/2006/relationships" id="264" r:id="Rdea3e8b6e3234a0a"/>
    <p:sldId xmlns:r="http://schemas.openxmlformats.org/officeDocument/2006/relationships" id="265" r:id="Reeada51115d148ef"/>
    <p:sldId xmlns:r="http://schemas.openxmlformats.org/officeDocument/2006/relationships" id="266" r:id="Rd0926cc598514a4e"/>
    <p:sldId xmlns:r="http://schemas.openxmlformats.org/officeDocument/2006/relationships" id="267" r:id="R4f516de7f5b94e03"/>
    <p:sldId xmlns:r="http://schemas.openxmlformats.org/officeDocument/2006/relationships" id="268" r:id="Rab5b94732a534f3f"/>
    <p:sldId xmlns:r="http://schemas.openxmlformats.org/officeDocument/2006/relationships" id="269" r:id="R11a326c353f64549"/>
    <p:sldId xmlns:r="http://schemas.openxmlformats.org/officeDocument/2006/relationships" id="270" r:id="R9fb99a9038d14a95"/>
    <p:sldId xmlns:r="http://schemas.openxmlformats.org/officeDocument/2006/relationships" id="271" r:id="R28fa9cf07eab486f"/>
    <p:sldId xmlns:r="http://schemas.openxmlformats.org/officeDocument/2006/relationships" id="272" r:id="R088fa3c14f654819"/>
    <p:sldId xmlns:r="http://schemas.openxmlformats.org/officeDocument/2006/relationships" id="273" r:id="R051db079893a4b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3321eaa59e4638" /><Relationship Type="http://schemas.openxmlformats.org/officeDocument/2006/relationships/slideMaster" Target="/ppt/slideMasters/slideMaster1.xml" Id="R7705b1ee02704b8d" /><Relationship Type="http://schemas.openxmlformats.org/officeDocument/2006/relationships/notesMaster" Target="/ppt/notesMasters/notesMaster1.xml" Id="Rc1e79ab7817b4d2f" /><Relationship Type="http://schemas.openxmlformats.org/officeDocument/2006/relationships/presProps" Target="/ppt/presProps.xml" Id="Rdaa40756d5e4423e" /><Relationship Type="http://schemas.openxmlformats.org/officeDocument/2006/relationships/tableStyles" Target="/ppt/tableStyles.xml" Id="Ree64404c86a44a9d" /><Relationship Type="http://schemas.openxmlformats.org/officeDocument/2006/relationships/slide" Target="/ppt/slides/slide1.xml" Id="R5be08b2922454675" /><Relationship Type="http://schemas.openxmlformats.org/officeDocument/2006/relationships/slide" Target="/ppt/slides/slide2.xml" Id="R21c966bfd1d94524" /><Relationship Type="http://schemas.openxmlformats.org/officeDocument/2006/relationships/slide" Target="/ppt/slides/slide3.xml" Id="Rc2c68d9d05954cce" /><Relationship Type="http://schemas.openxmlformats.org/officeDocument/2006/relationships/slide" Target="/ppt/slides/slide4.xml" Id="R8cea3381fa2a4ee3" /><Relationship Type="http://schemas.openxmlformats.org/officeDocument/2006/relationships/slide" Target="/ppt/slides/slide5.xml" Id="R4f6d35203d484c88" /><Relationship Type="http://schemas.openxmlformats.org/officeDocument/2006/relationships/slide" Target="/ppt/slides/slide6.xml" Id="R129350750de64c4e" /><Relationship Type="http://schemas.openxmlformats.org/officeDocument/2006/relationships/slide" Target="/ppt/slides/slide7.xml" Id="R2c3bee953e174880" /><Relationship Type="http://schemas.openxmlformats.org/officeDocument/2006/relationships/slide" Target="/ppt/slides/slide8.xml" Id="R27782ac7424e4e40" /><Relationship Type="http://schemas.openxmlformats.org/officeDocument/2006/relationships/slide" Target="/ppt/slides/slide9.xml" Id="Rdea3e8b6e3234a0a" /><Relationship Type="http://schemas.openxmlformats.org/officeDocument/2006/relationships/slide" Target="/ppt/slides/slide10.xml" Id="Reeada51115d148ef" /><Relationship Type="http://schemas.openxmlformats.org/officeDocument/2006/relationships/slide" Target="/ppt/slides/slide11.xml" Id="Rd0926cc598514a4e" /><Relationship Type="http://schemas.openxmlformats.org/officeDocument/2006/relationships/slide" Target="/ppt/slides/slide12.xml" Id="R4f516de7f5b94e03" /><Relationship Type="http://schemas.openxmlformats.org/officeDocument/2006/relationships/slide" Target="/ppt/slides/slide13.xml" Id="Rab5b94732a534f3f" /><Relationship Type="http://schemas.openxmlformats.org/officeDocument/2006/relationships/slide" Target="/ppt/slides/slide14.xml" Id="R11a326c353f64549" /><Relationship Type="http://schemas.openxmlformats.org/officeDocument/2006/relationships/slide" Target="/ppt/slides/slide15.xml" Id="R9fb99a9038d14a95" /><Relationship Type="http://schemas.openxmlformats.org/officeDocument/2006/relationships/slide" Target="/ppt/slides/slide16.xml" Id="R28fa9cf07eab486f" /><Relationship Type="http://schemas.openxmlformats.org/officeDocument/2006/relationships/slide" Target="/ppt/slides/slide17.xml" Id="R088fa3c14f654819" /><Relationship Type="http://schemas.openxmlformats.org/officeDocument/2006/relationships/slide" Target="/ppt/slides/slide18.xml" Id="R051db079893a4b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a68c58391945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c57d34c34244cb" /><Relationship Type="http://schemas.openxmlformats.org/officeDocument/2006/relationships/notesMaster" Target="/ppt/notesMasters/notesMaster1.xml" Id="R0438f57dbd9648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0ddeec284448ff" /><Relationship Type="http://schemas.openxmlformats.org/officeDocument/2006/relationships/notesMaster" Target="/ppt/notesMasters/notesMaster1.xml" Id="Rf4ae3ae0362547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29f7141ad34719" /><Relationship Type="http://schemas.openxmlformats.org/officeDocument/2006/relationships/notesMaster" Target="/ppt/notesMasters/notesMaster1.xml" Id="R6a73cc68837847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b39ef259cd4a0c" /><Relationship Type="http://schemas.openxmlformats.org/officeDocument/2006/relationships/notesMaster" Target="/ppt/notesMasters/notesMaster1.xml" Id="R1f3a2738e45d4a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f329d5a4e24633" /><Relationship Type="http://schemas.openxmlformats.org/officeDocument/2006/relationships/notesMaster" Target="/ppt/notesMasters/notesMaster1.xml" Id="R0ec8d736323d49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843dee7a4c4484" /><Relationship Type="http://schemas.openxmlformats.org/officeDocument/2006/relationships/notesMaster" Target="/ppt/notesMasters/notesMaster1.xml" Id="R24d28b2adb764f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7d311e70a24968" /><Relationship Type="http://schemas.openxmlformats.org/officeDocument/2006/relationships/notesMaster" Target="/ppt/notesMasters/notesMaster1.xml" Id="Rd24336b469f142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00a4838efb4a55" /><Relationship Type="http://schemas.openxmlformats.org/officeDocument/2006/relationships/notesMaster" Target="/ppt/notesMasters/notesMaster1.xml" Id="R0acf45706eb442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69e8793c4046a9" /><Relationship Type="http://schemas.openxmlformats.org/officeDocument/2006/relationships/notesMaster" Target="/ppt/notesMasters/notesMaster1.xml" Id="Rd8d77a6f0dc444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88720c026a4717" /><Relationship Type="http://schemas.openxmlformats.org/officeDocument/2006/relationships/notesMaster" Target="/ppt/notesMasters/notesMaster1.xml" Id="R0fcccb6ab44349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910460f51940e8" /><Relationship Type="http://schemas.openxmlformats.org/officeDocument/2006/relationships/notesMaster" Target="/ppt/notesMasters/notesMaster1.xml" Id="Re8f76920d6ef45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b6c704f27d49d7" /><Relationship Type="http://schemas.openxmlformats.org/officeDocument/2006/relationships/notesMaster" Target="/ppt/notesMasters/notesMaster1.xml" Id="R95ed7cf39f8f47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b47eb02e3548da" /><Relationship Type="http://schemas.openxmlformats.org/officeDocument/2006/relationships/notesMaster" Target="/ppt/notesMasters/notesMaster1.xml" Id="Rab66fe7a078e46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33976dd56046eb" /><Relationship Type="http://schemas.openxmlformats.org/officeDocument/2006/relationships/notesMaster" Target="/ppt/notesMasters/notesMaster1.xml" Id="R0cab0e63e4d540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0be1a4c29d4a63" /><Relationship Type="http://schemas.openxmlformats.org/officeDocument/2006/relationships/notesMaster" Target="/ppt/notesMasters/notesMaster1.xml" Id="R6cf846b0df4d49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769106d41f4e53" /><Relationship Type="http://schemas.openxmlformats.org/officeDocument/2006/relationships/notesMaster" Target="/ppt/notesMasters/notesMaster1.xml" Id="R9ce42202c3b54f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784ff89e23442b" /><Relationship Type="http://schemas.openxmlformats.org/officeDocument/2006/relationships/notesMaster" Target="/ppt/notesMasters/notesMaster1.xml" Id="R98cf4c12f6944c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4154be2cb134fd1" /><Relationship Type="http://schemas.openxmlformats.org/officeDocument/2006/relationships/notesMaster" Target="/ppt/notesMasters/notesMaster1.xml" Id="R2faed59734184c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開場先說明：這份不是把景點全部塞滿，而是讓 16 人三台車能準時、少等、少繞路地完成行程。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這張用來取得大家共識：不是刪掉景點，而是把每個點放在它最適合的角色。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c11d6f08446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cae8ebc6dd4721" /><Relationship Type="http://schemas.openxmlformats.org/officeDocument/2006/relationships/slideLayout" Target="/ppt/slideLayouts/slideLayout1.xml" Id="R56939bf357fb42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939bf357fb42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70854e7b043c5" /><Relationship Type="http://schemas.openxmlformats.org/officeDocument/2006/relationships/image" Target="/ppt/media/image.jpeg" Id="R57930e003c484d46" /><Relationship Type="http://schemas.openxmlformats.org/officeDocument/2006/relationships/notesSlide" Target="/ppt/notesSlides/notesSlide1.xml" Id="Red8be901edc746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6c5afb8b24f2c" /><Relationship Type="http://schemas.openxmlformats.org/officeDocument/2006/relationships/notesSlide" Target="/ppt/notesSlides/notesSlide2.xml" Id="R3d7917b343bf4b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ea323caf64824" /><Relationship Type="http://schemas.openxmlformats.org/officeDocument/2006/relationships/notesSlide" Target="/ppt/notesSlides/notesSlide3.xml" Id="R96a2fc6ef9d845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08bfb9ac14d82" /><Relationship Type="http://schemas.openxmlformats.org/officeDocument/2006/relationships/image" Target="/ppt/media/image2.jpeg" Id="R798f48cb405b4588" /><Relationship Type="http://schemas.openxmlformats.org/officeDocument/2006/relationships/notesSlide" Target="/ppt/notesSlides/notesSlide4.xml" Id="R86a15c2a6c7942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b39dee1e3445d" /><Relationship Type="http://schemas.openxmlformats.org/officeDocument/2006/relationships/image" Target="/ppt/media/image3.jpeg" Id="R39450ea4b55a464a" /><Relationship Type="http://schemas.openxmlformats.org/officeDocument/2006/relationships/notesSlide" Target="/ppt/notesSlides/notesSlide5.xml" Id="Rb2465b2e2ad04e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e5e588a6b42db" /><Relationship Type="http://schemas.openxmlformats.org/officeDocument/2006/relationships/image" Target="/ppt/media/image4.jpeg" Id="R2c8dd71ec5e5433a" /><Relationship Type="http://schemas.openxmlformats.org/officeDocument/2006/relationships/notesSlide" Target="/ppt/notesSlides/notesSlide6.xml" Id="R2e7886c1d3f84b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12d7c1adf4691" /><Relationship Type="http://schemas.openxmlformats.org/officeDocument/2006/relationships/image" Target="/ppt/media/image5.jpeg" Id="Rb2e90c7d747b45da" /><Relationship Type="http://schemas.openxmlformats.org/officeDocument/2006/relationships/notesSlide" Target="/ppt/notesSlides/notesSlide7.xml" Id="Rc443052ee94340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06e9a6d2f40bc" /><Relationship Type="http://schemas.openxmlformats.org/officeDocument/2006/relationships/image" Target="/ppt/media/image6.jpeg" Id="Ra72e8de6adee47cf" /><Relationship Type="http://schemas.openxmlformats.org/officeDocument/2006/relationships/notesSlide" Target="/ppt/notesSlides/notesSlide8.xml" Id="Rce5bef5c35344b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3fc7cfb784fc2" /><Relationship Type="http://schemas.openxmlformats.org/officeDocument/2006/relationships/image" Target="/ppt/media/image7.jpeg" Id="Rd71963cbd35d41ac" /><Relationship Type="http://schemas.openxmlformats.org/officeDocument/2006/relationships/notesSlide" Target="/ppt/notesSlides/notesSlide9.xml" Id="R0624832c0f734c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33a7b99284c24" /><Relationship Type="http://schemas.openxmlformats.org/officeDocument/2006/relationships/notesSlide" Target="/ppt/notesSlides/notesSlide10.xml" Id="R8a1bc3a4cad244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8bfbe0dfd4c1d" /><Relationship Type="http://schemas.openxmlformats.org/officeDocument/2006/relationships/image" Target="/ppt/media/image8.jpeg" Id="R721b1a935a3c49d6" /><Relationship Type="http://schemas.openxmlformats.org/officeDocument/2006/relationships/image" Target="/ppt/media/image9.jpeg" Id="R298cdf967b174380" /><Relationship Type="http://schemas.openxmlformats.org/officeDocument/2006/relationships/notesSlide" Target="/ppt/notesSlides/notesSlide11.xml" Id="R0d843c57dba742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591f1b20f4dbc" /><Relationship Type="http://schemas.openxmlformats.org/officeDocument/2006/relationships/notesSlide" Target="/ppt/notesSlides/notesSlide12.xml" Id="Rd19df9036fd44f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9612927f9439d" /><Relationship Type="http://schemas.openxmlformats.org/officeDocument/2006/relationships/notesSlide" Target="/ppt/notesSlides/notesSlide13.xml" Id="R32ce003a1f4547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a2347282e4728" /><Relationship Type="http://schemas.openxmlformats.org/officeDocument/2006/relationships/notesSlide" Target="/ppt/notesSlides/notesSlide14.xml" Id="R9ce38cf273df4f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94d2f6cbc4859" /><Relationship Type="http://schemas.openxmlformats.org/officeDocument/2006/relationships/notesSlide" Target="/ppt/notesSlides/notesSlide15.xml" Id="Rf2982d49ad064f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30ab23a174e73" /><Relationship Type="http://schemas.openxmlformats.org/officeDocument/2006/relationships/notesSlide" Target="/ppt/notesSlides/notesSlide16.xml" Id="R4ca8af8bd3ea4f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79aa65d034b77" /><Relationship Type="http://schemas.openxmlformats.org/officeDocument/2006/relationships/notesSlide" Target="/ppt/notesSlides/notesSlide17.xml" Id="R17bd00847f9841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ab6459c0442bb" /><Relationship Type="http://schemas.openxmlformats.org/officeDocument/2006/relationships/notesSlide" Target="/ppt/notesSlides/notesSlide18.xml" Id="Rebe43f3d774940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30e003c484d46"/>
          <a:srcRect xmlns:a="http://schemas.openxmlformats.org/drawingml/2006/main" l="0" t="7848" r="0" b="78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A9FF3-5232-403D-AFFD-A0A25CD4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9525">
            <a:solidFill>
              <a:srgbClr val="000000">
                <a:alpha val="33333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86022-3EAC-41A6-9424-2D6AE6DD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676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沖繩 4 天 3 夜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家族自駕行程簡報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00520-FE63-4366-8B82-88B29927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7/17 10:00 抵達 · 7/20 11:55 離境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16 人｜13 位大人、3 位小孩｜諾富特沖繩那霸｜3 台車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C3599-EE32-48B4-A749-D5C9E1D1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104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76C48"/>
          </a:solidFill>
          <a:ln xmlns:a="http://schemas.openxmlformats.org/drawingml/2006/main" w="9525">
            <a:solidFill>
              <a:srgbClr val="D76C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導遊版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8E056-4E7B-4E27-805F-C0970927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E88A8"/>
          </a:solidFill>
          <a:ln xmlns:a="http://schemas.openxmlformats.org/drawingml/2006/main" w="9525">
            <a:solidFill>
              <a:srgbClr val="1E88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避開連假車潮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EDD5E-957B-4DCD-BF7C-0DB8708B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F7D59"/>
          </a:solidFill>
          <a:ln xmlns:a="http://schemas.openxmlformats.org/drawingml/2006/main" w="9525">
            <a:solidFill>
              <a:srgbClr val="2F7D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景點取捨清楚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47896-D1EE-484C-BB86-51BA2C12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核心建議：北部日早出發，南部日二選一控制購物點，離境日不排景點。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963AF-787D-4A80-A2E8-EF860747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89696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05E75-C75A-4918-B426-24F2DB73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1D345-B486-4B84-BCD4-C5035E09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整體判斷：景點都可去，但不能平均分配時間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CA7F3-E12B-49AA-B0DB-C6A064EE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2F5E6-0588-47DA-BACA-1A9FF974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9"/>
          </a:solidFill>
          <a:ln xmlns:a="http://schemas.openxmlformats.org/drawingml/2006/main" w="9525">
            <a:solidFill>
              <a:srgbClr val="2F7D5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2AF51-AF05-4D53-9C5A-0D8B6510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最值得保留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F2DFE-88C8-4180-AF3B-98DC53CE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90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美麗海、古宇利大橋、國際通/牧志、美國村、瀨長島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728CC-5204-4BBE-ABE8-3B4403CF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A8"/>
          </a:solidFill>
          <a:ln xmlns:a="http://schemas.openxmlformats.org/drawingml/2006/main" w="9525">
            <a:solidFill>
              <a:srgbClr val="1E8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F83A1-9DA0-4CF8-A6BA-DE0CE96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可去但限時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749DC-816E-4B54-8466-FDD17C56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90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Costco、AEON Rycom、DMM 水族館、系滿魚市場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DAB76-AE1A-4CCE-B199-3333E2F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C48"/>
          </a:solidFill>
          <a:ln xmlns:a="http://schemas.openxmlformats.org/drawingml/2006/main" w="9525">
            <a:solidFill>
              <a:srgbClr val="D76C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0E9F7-3C52-4FB7-92B2-EB13E96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不建議硬塞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93414-E650-4F9C-9471-C1383877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離境日景點、古宇利蝦蝦飯當 16 人正式午餐、DMM + AEON 長時間同排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974E5-6BB7-445A-ACA1-39053DFC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82A82-A923-4EDE-99DE-DA3E04EB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關鍵風險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AEB2B-D926-429A-92DB-E221BC9E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7/18-7/20 週末與日本海之日連假；集合、停車、廁所會吃掉大量時間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DE1CE-BAC0-4B7F-A1A0-60E40A02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50683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60400-D3E0-44E1-89A2-0B2F0AF5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3C893-99CE-43AB-8BE6-A32A3C99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用三個區域排路線，三台車才不會反覆折返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A724F-5CE0-4E55-8F5E-5A3F5E9C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514FD-6E6C-4D43-A333-C541FF7D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區域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97ADF-7BE0-476C-89E4-6DA00900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954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安排日期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02C85-1AD3-4F65-AD50-80E65D4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954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主題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76379-66AB-45E4-9B3E-3735B281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954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導遊判斷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1DC05-E3EB-4AA3-A19D-B563CA92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那霸市區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D79BA-2A0E-4CCE-8A7E-DA1BB692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8600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7/17 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63522-7FB5-407E-92DC-ECCDADFD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860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抵達、國際通、牧志市場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A17B6-7B6D-4002-B211-EC3A62C8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860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不再開遠路；晚間建議計程車進國際通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F08C5-E326-4C84-B89E-32F90A84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北部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D4033-2685-4D56-B891-77A6DB46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765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7/18 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22138-DE0F-48E6-A522-A80F057C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765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美麗海、備瀨、古宇利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FB098-A9C9-4A1D-8CD1-DE1B0D35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765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最早出發；回程晚餐不要再排遠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3951C-8772-420B-97EB-1250563D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南部/中部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C31BE-2F15-4607-B7EA-0BDF8D4A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6710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7/19 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43E3D-998B-4FCF-970E-88469684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671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Costco、系滿、DMM/瀨長島、AEON/美國村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8119D-A6C3-44F6-B269-9C5DA42F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671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購物點要限時；DMM 和 AEON 擇一最好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0C17D-6000-410A-BA0C-1403E071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機場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6091F-40CE-4E26-B65B-A5677143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576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7/20 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E27BE-F4B4-42A6-97EC-ED81B0EA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576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加油、還車、出境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4339E8-4D1B-4461-AF2E-14FF912C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0576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不排景點；08:00 前離開飯店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0540D-5265-4B3F-B85D-59D67277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住宿基準點：諾富特沖繩那霸位於首里/松川一帶，去北部可接那霸 IC，去國際通則不適合三台車找停車位。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C7244B-6322-4CCC-8D06-4E0A0F9E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0577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FE371E-8398-47EC-B64C-F5A313BD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35E74-3750-4BF2-957E-D28A3DE5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Day 1｜抵達後只做那霸市區，讓大家先站穩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BFFCD-D6B1-4C70-A209-F871E920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f48cb405b4588"/>
          <a:srcRect xmlns:a="http://schemas.openxmlformats.org/drawingml/2006/main" l="19733" t="0" r="197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428750"/>
            <a:ext cx="432435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E6A7F-EEB3-4B87-8920-4540A7E8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C4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時間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C3247-4079-47A9-9175-6220800D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0495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C4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BBDF0-D7FC-4E8F-A5B0-716146D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C4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導遊提醒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A770E-AA1A-4725-A0C3-B6D0C40B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10:00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452B7-E149-4641-8437-BFCE2551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7170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抵達那霸機場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4D361-BE26-4618-A0C4-499610F3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16 人入境、行李、租車抓 2 小時較穩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BA91C-BB21-4C02-8186-91F479E2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12:30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70036-0024-424F-8AA0-80256DF7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3845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燒肉本舖已訂位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E7A49-9E17-412B-8F3A-F7E1CE74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時間偏緊，建議請餐廳保留到 13:00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4BA23-E4C7-4DC4-AE24-12596315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14:30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7CE16-63E2-4492-A92A-897EED7D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諾富特寄行李 / check-in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E7C17-C28F-46D1-B46B-BC5CE7CF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0520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分車固定乘客、建立 LINE 集合群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9BA27-F08B-4BD9-9D0C-BE11A28C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16:30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4A76A-4998-468F-A725-6E50F065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7195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國際通 + 第一牧志市場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81307-A3A3-4BFA-8AAA-709C439B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建議計程車往返，不開三台車進市區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6178E-7592-4D5A-9058-1D8CB997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18:30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63E33-3CC9-48E7-8C60-466D4012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3870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國際通晚餐 / 伴手禮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359E1-00F6-4226-935A-6EFDC48F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第一晚不要再排瀨長島，保留體力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D7151-BEC3-48E6-A482-166C1BC2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014581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061CF3-C0B7-4AD6-9B54-A03F840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9F838-6B90-4E23-A5C2-98277A7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國際通與牧志市場適合第一晚，但要用步行節奏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6EB71-5EB7-4647-A8E4-D64F0756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50ea4b55a464a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62100"/>
            <a:ext cx="47625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B0C8A-DE8C-47E6-843D-EEDEB848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573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D59"/>
                </a:solidFill>
              </a:defRPr>
            </a:pPr>
            <a:r>
              <a:rPr sz="1650" b="1">
                <a:solidFill>
                  <a:srgbClr val="2F7D59"/>
                </a:solidFill>
              </a:rPr>
              <a:t>適合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418F9-ADF7-4675-894C-7129B4F4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574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抵達日輕鬆逛，老人小孩可隨時回飯店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9EB0E-60F7-4DCB-828C-13E0DF10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193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市場可看海鮮、沖繩食材，國際通可補藥妝伴手禮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B4158-CBED-498B-931C-12842CA6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雨天也能維持行程，不會影響後續北部日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BC4D4-96A7-41C8-B701-A16C479A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19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6C48"/>
                </a:solidFill>
              </a:defRPr>
            </a:pPr>
            <a:r>
              <a:rPr sz="1650" b="1">
                <a:solidFill>
                  <a:srgbClr val="D76C48"/>
                </a:solidFill>
              </a:rPr>
              <a:t>不適合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FBDF1-1BE6-497A-93DF-95DF3CB0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19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三台車一起找停車位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2BB5E-B5E5-4BB4-BA7A-C14668B5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815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把牧志市場當正式 16 人海鮮大餐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17C2C-C65A-400C-9136-8BEC1B6F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43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逛到太晚，隔天北部日會很痛苦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D7BC1-F2BA-44B2-9A7C-D42CA0E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集合點建議：國際通入口、牧志市場門口、或指定便利商店；不要用「看到某某店集合」。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E2A41-B80D-4861-A1EA-47668757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57425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5F1C8F-0121-47A8-97BD-2058B405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6EC1B-4E44-4207-990C-581045BD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Day 2｜北部是整趟精華，早出發比晚回來重要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190C5-662D-4E64-A0D0-25D67691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dd71ec5e5433a"/>
          <a:srcRect xmlns:a="http://schemas.openxmlformats.org/drawingml/2006/main" l="24475" t="0" r="244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428750"/>
            <a:ext cx="432435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320CC-4945-42C7-A236-1C223310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A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時間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A25E2-69C2-4B98-9475-CC12A6C2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4668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A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4989C-D466-4A26-9E8F-F0C1B56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668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A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導遊提醒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5F066-A781-46E2-9B00-2F5F1162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07:00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9D6FC-5A40-4FEB-AEF8-299EE55D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574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諾富特出發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3BC3F-5706-479D-986D-1FEC6F69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5740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走那霸 IC；早餐前一晚先買好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5994C-BAD7-4C6B-84E3-621982C4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09:30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A9724-EF1E-4577-A285-A45A9974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479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美麗海水族館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A7707-6958-4136-A7C3-50DB44AD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先看黑潮之海，再看戶外海豚/海龜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DD6E1-71BB-46E5-8375-247394B2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12:00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0DB8D-8888-4BAB-8B4A-6512F298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海洋博公園周邊午餐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69416-9527-4D10-AF32-142BC994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以簡單、快、可分桌為原則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FF0F7-77D5-4898-927A-9ECA765C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13:15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8D44D-F74E-4F34-97AF-79A2CE82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290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備瀨福木林道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4F56E-44BF-424C-8BEE-E0835A86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290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水族館旁低強度拍照點，可視體力增減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03628-2BCE-4BFA-93D9-11CDD9D5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14:45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5136B-CB99-43F7-97AE-1326D04C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古宇利大橋 / 古宇利島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ED878-0044-45BC-AC95-6B15459C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960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拍照 + 蝦蝦飯當小吃，不當團體午餐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B1A43-9342-4956-B79E-DB692654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16:30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44E1E-FFB3-411C-9AF1-FFB9EB79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101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回那霸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04DF83-32FC-43FA-94A2-5B55CF9C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01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晚餐安排飯店附近或那霸市區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C334F1-6472-4C94-89F6-2199D23A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12508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C9D7FD-FEDC-4CBC-8304-A00C4E8C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33A01-94E9-48CC-AB8B-47703631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美麗海水族館是必排點，停留 2.5 小時最剛好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92243-B7B3-4B0F-85CF-41F5DCFC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90c7d747b45da"/>
          <a:srcRect xmlns:a="http://schemas.openxmlformats.org/drawingml/2006/main" l="2703" t="0" r="27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85900"/>
            <a:ext cx="5334000" cy="3762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BF50D-7522-4D2F-AA92-673EB004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8A8"/>
                </a:solidFill>
              </a:defRPr>
            </a:pPr>
            <a:r>
              <a:rPr sz="1800" b="1">
                <a:solidFill>
                  <a:srgbClr val="1E88A8"/>
                </a:solidFill>
              </a:rPr>
              <a:t>為什麼適合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6B939-E11A-4576-8724-35542909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沖繩最有代表性的親子景點，長輩、小孩、第一次來都容易接受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B9712-3C55-41BA-AC84-E5720D87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旺季營業延長，但連假停車與館內人潮仍要早到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1B758-A0B0-4AFD-9171-AA0625C5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室內冷氣可避暑，剛好平衡北部長車程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290B1-98FB-49A4-BF25-869E9E3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59"/>
                </a:solidFill>
              </a:defRPr>
            </a:pPr>
            <a:r>
              <a:rPr sz="1800" b="1">
                <a:solidFill>
                  <a:srgbClr val="2F7D59"/>
                </a:solidFill>
              </a:rPr>
              <a:t>現場走法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3D484-2AEB-41A5-B293-87D3357E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先上廁所再入館；不要一進去就逛紀念品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28B2D-B4D2-4433-96AC-64EDB11F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黑潮之海集合拍照後自由 30 分鐘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4CE9F-D344-4CB1-81B0-AD676F2F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339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出口集合後再看戶外區，避免有人走失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0E757-6029-4AF3-81B1-504A126D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官方資訊：2026/7/18-7/31 旺季 8:30-20:00，最後入館 19:00。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249B1-66DD-44EA-88FE-C0709E40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36843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0E4FB-30C8-4C7D-A774-F2C6CC63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B5D3C-F700-4DDB-883C-CA756DAF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古宇利大橋值得去，但蝦蝦飯要當彈性小吃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460CA-CB08-487E-ABC7-82B31B26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e8de6adee47cf"/>
          <a:srcRect xmlns:a="http://schemas.openxmlformats.org/drawingml/2006/main" l="12519" t="0" r="12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43050"/>
            <a:ext cx="4572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3BD9F-DFD7-4001-91BB-BA89FFCC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562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88A8"/>
                </a:solidFill>
              </a:defRPr>
            </a:pPr>
            <a:r>
              <a:rPr sz="1725" b="1">
                <a:solidFill>
                  <a:srgbClr val="1E88A8"/>
                </a:solidFill>
              </a:rPr>
              <a:t>古宇利大橋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CFB49-B756-4D65-BFB1-6F43B523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430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開車過橋本身就是景點；適合全團拍照，停 30-45 分鐘即可。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31016-7BA7-438F-A059-D1333E22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669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85BC3-60DA-4DA2-B003-F458C229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D59"/>
                </a:solidFill>
              </a:defRPr>
            </a:pPr>
            <a:r>
              <a:rPr sz="1725" b="1">
                <a:solidFill>
                  <a:srgbClr val="2F7D59"/>
                </a:solidFill>
              </a:rPr>
              <a:t>古宇利島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63BE8-80AA-48BC-858D-4E543DCF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海灘、海景、甜點店可自由分散，不要拉太遠。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F09AE-C60E-403A-A299-A084B11C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6F548-E9BF-41DB-9B99-5E776A0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05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6C48"/>
                </a:solidFill>
              </a:defRPr>
            </a:pPr>
            <a:r>
              <a:rPr sz="1725" b="1">
                <a:solidFill>
                  <a:srgbClr val="D76C48"/>
                </a:solidFill>
              </a:rPr>
              <a:t>蝦蝦飯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23DB6-110B-4805-9613-F7F5A89D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好吃但排隊不可控；16 人建議分批買，不當正式午餐。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78895-55A0-44A2-8E5B-9A1812FF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100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A1E96-5F61-40B5-837F-ABF921DE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76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B7791F"/>
                </a:solidFill>
              </a:rPr>
              <a:t>備瀨福木林道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004B1-6171-434F-9822-04467614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若美麗海後還有體力可加；若小孩累就跳過。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0A34A-FA13-447B-A20C-D5957057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816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91752-9B23-40BC-B40E-7FD0FF47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4240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7FF6F9-828E-42EE-8E4D-E9311B34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607EA-FFFA-488D-8971-E94896B9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Day 3｜南部與中部要做取捨，購物點不能全放大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470A4-9E50-444E-8655-F411EB12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963cbd35d41ac"/>
          <a:srcRect xmlns:a="http://schemas.openxmlformats.org/drawingml/2006/main" l="15950" t="0" r="159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428750"/>
            <a:ext cx="432435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C724C-3146-4475-BC3E-0A8FAD7D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9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時間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587C8-95C8-486E-B007-2FC43CB3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0495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9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B5ECF-43E9-4B19-8CCE-A225E5CE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9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導遊提醒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5D77F-E08F-44BE-9974-9A3A6C10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09:30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181EC-05E4-4904-93B9-2245FD3B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7170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Costco 沖繩南城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2B298-9093-4C9B-9563-562514E2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採買點，不是觀光點；90 分鐘上限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D8C2E-810F-4619-BD85-6AF28347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11:45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28EF0-3C54-47BE-A7D2-94E50AF2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3845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系滿魚市場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17E7E-8ED9-4EB1-A473-9DAA41C5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小吃午餐、海鮮採買；不要太晚到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EEE2B-A44C-4882-A433-67A4CD15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13:15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B7AD5-DC04-47A1-9013-D4B2F1D8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DMM 水族館或瀨長島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74130-D74B-430B-88E6-DD0A51D4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0520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有小孩/雨天選 DMM；想拍照選瀨長島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5F04E-5B01-4932-9EB6-989FFC82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15:30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30096-F16B-4D55-B9C0-15CA31A0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7195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AEON Rycom 短逛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A1D09-D89A-4970-BBAC-8B0BD1EB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若 Costco 已買很多，可直接跳過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47CBC-7914-4981-A5AA-2842FAB0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17:30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4AC1F-D5C1-4184-BEE1-D757138A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38700"/>
            <a:ext cx="2705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美國村晚餐與夜景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37D29-E39B-4AAE-B3EA-57346645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這天最適合當收尾點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C3084-D42C-46CF-9DC0-A2A61CBE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84541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B0027A-E376-4F37-B0F0-93619E70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6186A-1294-4D35-BAC5-E10BB300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Costco、系滿、DMM：這三點的角色完全不同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6AD03-6F6D-45EC-A39D-B89CAA20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B8F60-2135-4281-ADE8-D580379E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219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85781-5773-458F-9C14-B3E030A4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219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8C675-AF53-439B-B9B3-B7E1E04C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Costco 沖繩南城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BF42A-F504-480C-BC0D-8972D1F6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角色：採買補給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8CAF9-DB3C-42F0-900E-154D8F83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適合買水、零食、早餐、伴手禮；不買冷藏冷凍。會員卡先確認。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4B844-9A6B-4009-AA5C-9CE14027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6C48"/>
                </a:solidFill>
              </a:defRPr>
            </a:pPr>
            <a:r>
              <a:rPr sz="1500" b="1">
                <a:solidFill>
                  <a:srgbClr val="D76C48"/>
                </a:solidFill>
              </a:rPr>
              <a:t>上限 90 分鐘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08D72-D018-426A-9732-BE9F8DAA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3219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030B5-3D89-4C4E-ACC2-C28FB6EF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3219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9"/>
          </a:solidFill>
          <a:ln xmlns:a="http://schemas.openxmlformats.org/drawingml/2006/main" w="9525">
            <a:solidFill>
              <a:srgbClr val="2F7D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95EA4-6E33-4AFE-A4D9-C0B9E3F9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系滿魚市場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64B48-157D-4340-8258-D9D345E4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59"/>
                </a:solidFill>
              </a:defRPr>
            </a:pPr>
            <a:r>
              <a:rPr sz="1800" b="1">
                <a:solidFill>
                  <a:srgbClr val="2F7D59"/>
                </a:solidFill>
              </a:rPr>
              <a:t>角色：午餐小吃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BDCA2-B5A3-4378-A1B0-6C06BBC8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適合海鮮、炸物、簡單分食；停留 60-75 分鐘，不排正式長餐。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95021-14CF-4AE5-8F40-D3FD032E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24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6C48"/>
                </a:solidFill>
              </a:defRPr>
            </a:pPr>
            <a:r>
              <a:rPr sz="1500" b="1">
                <a:solidFill>
                  <a:srgbClr val="D76C48"/>
                </a:solidFill>
              </a:rPr>
              <a:t>上限 75 分鐘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F9FA5-149C-469C-A001-A89A9B92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219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8317D-B3DC-4579-B431-17983B2D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219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A8"/>
          </a:solidFill>
          <a:ln xmlns:a="http://schemas.openxmlformats.org/drawingml/2006/main" w="9525">
            <a:solidFill>
              <a:srgbClr val="1E88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5AD18-F02B-4DB2-8BA3-B2D327A9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DMM 水族館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B0667-C235-45CC-9B7E-229BFC8B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336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8A8"/>
                </a:solidFill>
              </a:defRPr>
            </a:pPr>
            <a:r>
              <a:rPr sz="1800" b="1">
                <a:solidFill>
                  <a:srgbClr val="1E88A8"/>
                </a:solidFill>
              </a:rPr>
              <a:t>角色：親子/雨天備案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9673D-ECD3-4719-A3FD-64EC509C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室內、近機場，適合小孩；但已去美麗海，若時間緊可刪。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2EF8D-2605-41AB-AA52-0E5F57A6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6C48"/>
                </a:solidFill>
              </a:defRPr>
            </a:pPr>
            <a:r>
              <a:rPr sz="1500" b="1">
                <a:solidFill>
                  <a:srgbClr val="D76C48"/>
                </a:solidFill>
              </a:rPr>
              <a:t>1.5 小時足夠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F93FE-D2A5-4728-B158-C09E5E32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導遊判斷：若當天已延誤，先刪 DMM 或 AEON，不刪美國村晚餐。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B189B-D07A-448D-8D07-1852D300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37417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207B0-2A6C-4CF5-B1FD-AA2B44B5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D0D3C-3329-4882-8186-44858643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瀨長島和美國村是拍照與收尾，AEON 只做補貨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11D5B-E121-4646-B701-395F66E0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b1a935a3c49d6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29000" cy="28575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cdf967b174380"/>
          <a:srcRect xmlns:a="http://schemas.openxmlformats.org/drawingml/2006/main" l="7100" t="0" r="71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1524000"/>
            <a:ext cx="342900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AC797-BA46-43A9-B783-3112A396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1F166-A572-4FDD-87C9-662041FF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88A8"/>
                </a:solidFill>
              </a:defRPr>
            </a:pPr>
            <a:r>
              <a:rPr sz="1950" b="1">
                <a:solidFill>
                  <a:srgbClr val="1E88A8"/>
                </a:solidFill>
              </a:rPr>
              <a:t>AEON Rycom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EAE97-13D1-4437-9612-151EFD01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適合：藥妝、超市、伴手禮、冷氣休息。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不適合：逛到兩小時以上，會壓縮美國村晚餐與夜景。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13DF2-0605-46C3-83A1-8758E239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點位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09B6A-5758-4237-993D-CDD13B88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57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建議停留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495E8-D542-4282-9862-B0FC78BD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5775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定位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6AB48-5B24-4FB4-8F67-906D9092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瀨長島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22733-DCFE-4CFB-8772-8656CC53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57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60-90 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3D736-0D21-462D-A154-DB77FDF5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5780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看海、拍照、喝飲料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BACC0-425F-4D13-B5E9-24D4B0A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AEON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4517B-E8FB-4D75-BA5D-4014CF0D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578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60-90 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09906-6DFF-44F7-B79F-57533A08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5785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補貨、冷氣、廁所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E636D-2584-44F2-9543-C8DDD76B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579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美國村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24C86-EF31-470F-8DBE-E12119FE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0579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2.5-3 小時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90333-D342-48F2-AE62-93BEA9AA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05790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晚餐、夜景、自由逛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B54C3-F2DA-45C8-B05F-D741C832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00742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48E3A7-8E2D-402D-B7A0-88FFEC57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3BE15-E5F8-4A8D-802E-DD499978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景點適合度：用團體條件看，不只看景點名氣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18A75-DC67-4EA3-9847-A7D134E2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24554-221A-4C9F-8DCF-C5FCA065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A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景點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9F254-6F4F-4992-A0C7-EAD2DC84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5049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A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適合度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6A73F-EB33-4970-8392-535B00BD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049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A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適合原因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912F3-7F8A-47E1-9E79-9511EFC2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049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A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不適合點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46EBB-4737-487E-BB2F-8023A2DB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美麗海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5A432-F9B7-446C-B15B-104F2982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812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必排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B7ACB-1B9D-4A51-85EA-D54AD058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812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代表性高、親子友善、室內避暑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24431-9E89-456E-B71F-F464E0AC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812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遠，必須早出發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7488F-BA22-4FAD-9918-6368DEB9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古宇利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09B73-95CF-4719-8337-8BDAC1EC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574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必排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F237D-0138-4680-B30D-EAC5D52B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574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海景強、拍照好、順接北部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57176-01A2-497E-8712-58D0BE26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74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餐飲與停車不適合 16 人久留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553FB-9300-4955-AF75-A5ECFC36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國際通/牧志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E8AFC-633C-4FE6-AEE3-D31B1DE9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337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必排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5030C-15B0-491F-9577-E60B9949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337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抵達日輕鬆、購物吃飯方便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34144-7A43-4348-85A8-4537112F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三台車停車麻煩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B9D0C-4E4B-41A1-9EFC-2F02E7DD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美國村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D6F4E-12C0-4EEC-8AB6-8AB8607E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099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必排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980D4-30E0-4616-A0A5-4B9D2BBC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099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晚餐與夜景好收尾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6DF70-2C01-4184-84B6-C9B85FBF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99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週末人潮與停車要耐心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B763E-539E-4368-8C08-E80AB29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Costco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73FA9-1C43-411A-AABE-76706ECA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862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限時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F6274A-5F1B-4687-B2E6-1133DFC7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862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補給效率高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16AD80-DC9E-4088-B1CB-32DFEDEF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862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不是觀光點，容易失控採買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6743C8-0C4F-48F3-AE0D-EC7B9725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AE5FA0-BDB1-4682-9D2D-8CC77EE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624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備案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DF7DCC-0186-4818-8349-FD83CBE9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624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雨天/小孩友善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BD2E3F-E309-4279-BEBA-AD5214DF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和美麗海重疊，時間緊可刪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C8B5A4-D4E2-44DB-B7A1-C265B7C4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AEON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BB575-290C-4CBE-8075-AB2218CD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387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備案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0EE68E-42BE-45FD-8884-EDDFE7E5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387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冷氣、超市、伴手禮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FAE9D2-3537-4D86-BF81-A6935E34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387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和 Costco/國際通購物重疊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1FD266-BD44-4DCB-B337-E0357B8A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516559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D27FAA-AA2B-4695-A26C-4627AD50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22D10-23E3-4B39-8015-80B66D5C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三台車執行規則：固定乘客、固定集合點、固定回報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79D14-E2B7-440F-9F09-06982060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CBC1C-C1EB-4C01-928A-55B33ADC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車輛分工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EE4F8-5FCD-4825-AB30-49C7718F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097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A/B/C 車固定人員與司機；小孩與安全座椅固定車，不每天換。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A42C3-2F6B-45F9-8407-6CAF3D1F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32682-3CD4-4182-BBA4-EA319604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E88A8"/>
          </a:solidFill>
          <a:ln xmlns:a="http://schemas.openxmlformats.org/drawingml/2006/main" w="9525">
            <a:solidFill>
              <a:srgbClr val="1E88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集合方式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764AD-9EEC-4D1B-A456-FE40B121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479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每站只發布下一站地址、集合時間、停車場名稱；不要用模糊地標。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DDC5B-86C2-4E74-B9FC-0A31BA55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4869E-C179-49F4-B68C-2FD3ADD7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F7D59"/>
          </a:solidFill>
          <a:ln xmlns:a="http://schemas.openxmlformats.org/drawingml/2006/main" w="9525">
            <a:solidFill>
              <a:srgbClr val="2F7D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時間緩衝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26768-D5B8-4C62-A2E7-6C6515D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861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每個景點離開前預留 15 分鐘上廁所與找人；北部日預留 30 分鐘。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029C6-8553-46B7-8565-CB86C04E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CA7F1-DDC6-4064-9839-54F94843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停車策略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5E78C-D2A0-4BCF-B956-61557299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24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三台車不一定要停同一排，但要停同一停車場；司機先拍停車區域。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783FF-023B-4196-A1C4-AC30738F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C483C-27F1-4071-8C1F-28DBB5C1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76C48"/>
          </a:solidFill>
          <a:ln xmlns:a="http://schemas.openxmlformats.org/drawingml/2006/main" w="9525">
            <a:solidFill>
              <a:srgbClr val="D76C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通訊規則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AC482-DA4D-47A5-B780-E45556CF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625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LINE 群組只放集合資訊；聊天另開群，避免重要訊息被洗掉。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E4AE8-EC93-4D09-B7B3-3F4C347B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2A349-5E59-4B89-BD2C-C7C5EBCC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558523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1F482-401D-4CDE-A91C-B2934B73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7FC83-0429-4901-AF5D-60D5AB30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餐食安排：16 人重點不是名店，是準時與可分桌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AF7A1-2D2B-45F0-B251-C6B88633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CEC60-D397-4591-86A0-24167035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C4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日期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81F69-B58E-4189-BEAE-37068E2F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C4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建議餐食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E9101-DA9A-43D2-B419-8C6CFC2B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24000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C48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安排邏輯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4F78D-D931-4044-8345-0FBDF2AA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7/17 午餐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73370-DEAF-4E8A-A3DD-AC102608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145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燒肉本舖已訂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3A9DE-0E2A-45CA-8C8B-AF0BD945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14550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確認保留到 13:00；抵達日唯一硬時間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63286-EAB7-4CE9-8D0D-B7E23FAB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7/17 晚餐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C7480-ED24-4555-BD85-2308D119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051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國際通自由餐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E25BF-95A4-4052-B5CC-B3A354E5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05100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可分散吃，避免 16 人等同一家餐廳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7EABC-BD71-4CE2-BAF6-5290D1F0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7/18 午餐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DB2B7-DCB9-4CDA-834A-8AEA9E22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956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美麗海/本部周邊簡餐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4F02B-1305-4E5B-903C-6171900E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95650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不要追名店；重點是快速進下一站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ED1A8-EC1D-45B8-BC21-E26DA19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7/18 晚餐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E3D98-B4AB-434F-8490-CB7F740B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862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飯店附近/那霸市區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A0DB2-D604-4FDC-98F4-6A985EC3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86200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北部回程後不要再開遠路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34E30-4B63-4BBB-ADCC-6B3A19DE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7/19 午餐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E20C5-2D2A-47C2-928A-3F79ABCC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系滿魚市場小吃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8F40C-7E73-4161-BD5D-B9B4080F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76750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分批買、分桌吃，節奏快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B9BF0-96C6-4277-8EA8-0D3FA5DE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7/19 晚餐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830FB-B582-4BDB-BF8E-01A2E8AB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673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美國村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0A549-4122-4EC9-9FAA-32BF179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67300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選擇多，可依口味分組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C1D4D-1E95-49EA-A484-356B02ED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導遊提醒：古宇利蝦蝦飯適合當下午點心，不適合當 16 人正式午餐。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4DF185-D5D3-4098-9231-AA2F8119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8719767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FB8C3-5DA1-4128-AE7D-3B81FEC3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44D87-65A4-4824-95BB-53A4C30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小孩、暑熱、連假：這三件事會決定體感好不好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B1E3A-A3F2-4DA0-B60E-7C14C3A2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A4EE5-B872-43B6-AB6B-8DE8721A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0F050-744C-47C3-8FC3-FD904149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6C48"/>
                </a:solidFill>
              </a:defRPr>
            </a:pPr>
            <a:r>
              <a:rPr sz="1800" b="1">
                <a:solidFill>
                  <a:srgbClr val="D76C48"/>
                </a:solidFill>
              </a:rPr>
              <a:t>暑熱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EA164-C7F6-465F-9EF0-D4C5781B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716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12:00-15:00 優先安排室內、車程或短停；每車固定放水。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075BC-04C0-409E-9706-90016226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6CA10-2899-4E02-90E2-5ED844B5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8A8"/>
                </a:solidFill>
              </a:defRPr>
            </a:pPr>
            <a:r>
              <a:rPr sz="1800" b="1">
                <a:solidFill>
                  <a:srgbClr val="1E88A8"/>
                </a:solidFill>
              </a:rPr>
              <a:t>兒童座椅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BD5CE-3055-4236-9C74-5535A55F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716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日本租車未滿 6 歲依法需兒童座椅；出發前與租車公司確認數量。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2F943-276B-4634-8157-017F7E29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42F14-DA16-4686-8464-51348400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59"/>
                </a:solidFill>
              </a:defRPr>
            </a:pPr>
            <a:r>
              <a:rPr sz="1800" b="1">
                <a:solidFill>
                  <a:srgbClr val="2F7D59"/>
                </a:solidFill>
              </a:rPr>
              <a:t>廁所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257DD-0143-4EA9-8518-07EC8A4E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242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上車前全員上廁所；北部日每次集合都多抓 15 分鐘。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09AC4-72C1-4002-90B5-4D212C9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5C782-2007-4D0F-B5E3-E9250944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1F"/>
                </a:solidFill>
              </a:defRPr>
            </a:pPr>
            <a:r>
              <a:rPr sz="1800" b="1">
                <a:solidFill>
                  <a:srgbClr val="B7791F"/>
                </a:solidFill>
              </a:rPr>
              <a:t>連假車潮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D4FC7-6B6E-4E0F-8072-63ABBBBC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242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7/20 是日本海之日；7/18-7/20 北部與海邊景點車潮上升。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DC412-53B7-404A-810C-23D92DD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E6C75-5FD9-4E84-B1DA-EFD75982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颱風/雷雨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CDEA5-0AD7-4659-9624-14148556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767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沖繩夏天午後雨常見；DMM、AEON、國際通可作為室內替代。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E2F39-82EF-4809-A1EE-D4C21C46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1391142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41F86E-CBF9-4051-85C1-383CB499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6DA82-0F9C-468A-86B0-4807BAD2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備案不是臨時亂改，而是先排好替換邏輯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467B9-565B-43E6-8254-5B53484A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F88E7-AC9D-4E01-980B-4ACC4F6D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情境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DD238-1509-40F0-BA56-3CE6055A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240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刪除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CB50F-66A0-4171-95B8-F7D2D509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240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替換/保留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211E7-499E-4471-B491-BBB26400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7/18 北部塞車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9945E-9C5C-48FE-BFE3-A661B691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145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備瀨福木林道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04D15-39F4-4131-8E11-7DE343BA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保留美麗海 + 古宇利大橋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79ACA-C018-4475-8D42-A5E095F2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7/19 下雨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E2895-B65F-4136-AA9F-EC6D85B8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051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瀨長島戶外停留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9A764-AC4D-488F-960D-2256BCCE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DMM + AEON，晚餐仍去美國村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AEDFE-7834-40A8-8BEC-E607085E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小孩很累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11D74-0DE6-4D0A-8EC0-548CA7B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956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AEON 或 DMM 擇一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33B5D-9827-4984-98DC-E3ACAC1C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956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保留瀨長島短停、美國村晚餐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B0939-72F2-4C1C-A6F4-11A43E2C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大人想購物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53537-44C1-45D8-AFCB-E9750D3D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862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F0733-3B2D-49C9-A12F-F8C429B0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862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Costco + AEON + 美國村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B83E3-FCF4-455D-8013-5A601CEB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想加首里城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970BCF-57DC-4C75-BD94-886769BF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7/17 飯店休息時間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1AEE9-57A6-4674-AED4-1F2C1F2F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767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只短停 60-90 分鐘；正殿仍復原中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0F8D1-919F-4826-8AC3-1C22DAAF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6C48"/>
                </a:solidFill>
              </a:defRPr>
            </a:pPr>
            <a:r>
              <a:rPr sz="1800" b="1">
                <a:solidFill>
                  <a:srgbClr val="D76C48"/>
                </a:solidFill>
              </a:rPr>
              <a:t>推薦原則：刪除「重複角色」的點，不刪除「代表性」或「晚餐收尾」的點。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DC9B9-0388-4855-9A52-0342C1D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1565575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CA6059-F56C-4432-834C-F524B555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A3FC2-EBAA-47E7-B9A5-BCE5D2C4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最終推薦版：把行程做成可準時完成的版本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1DAE7-A019-4C1C-A6DB-8E8A49AA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B2B6A-96DF-473B-AD20-CE31BB65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6C48"/>
                </a:solidFill>
              </a:defRPr>
            </a:pPr>
            <a:r>
              <a:rPr sz="2100" b="1">
                <a:solidFill>
                  <a:srgbClr val="D76C48"/>
                </a:solidFill>
              </a:rPr>
              <a:t>7/17 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022BF-CBE4-4A66-A5F6-33E70EED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76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機場 → 燒肉本舖 → 諾富特 → 國際通/牧志市場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BA79E-12E3-4DA6-8B7E-7ED16685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91397-D67E-4A4E-8DDA-16A20DA5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88A8"/>
                </a:solidFill>
              </a:defRPr>
            </a:pPr>
            <a:r>
              <a:rPr sz="2100" b="1">
                <a:solidFill>
                  <a:srgbClr val="1E88A8"/>
                </a:solidFill>
              </a:rPr>
              <a:t>7/18 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769F1-DF9B-4218-B5FF-D3490FED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908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07:00 出發 → 美麗海 → 備瀨短停 → 古宇利大橋 → 那霸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63C08-BE95-4878-AAB5-ABE77A04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9DBCF-E1EE-4489-9AF5-3FBF1EBB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D59"/>
                </a:solidFill>
              </a:defRPr>
            </a:pPr>
            <a:r>
              <a:rPr sz="2100" b="1">
                <a:solidFill>
                  <a:srgbClr val="2F7D59"/>
                </a:solidFill>
              </a:rPr>
              <a:t>7/19 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B8F93-74E4-46D7-9E39-57DCE729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5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Costco → 系滿魚市場 → DMM 或瀨長島 → AEON 短停 → 美國村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FC7E5-BADB-4CFF-BC9D-EDFAFB00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66610-8F71-404E-8FBA-570CED9E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791F"/>
                </a:solidFill>
              </a:defRPr>
            </a:pPr>
            <a:r>
              <a:rPr sz="2100" b="1">
                <a:solidFill>
                  <a:srgbClr val="B7791F"/>
                </a:solidFill>
              </a:rPr>
              <a:t>7/20 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4B329-D50E-4200-A8DC-1477CE19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07:45-08:00 離開飯店 → 加油 → 還車 → 09:30 前到機場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3DDF1-FE69-4893-99E7-CE0378AC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導遊結論：如果 7/19 一定要完整塞滿，請把 DMM 或 AEON 明確設為可刪備案；不要兩個都當必去。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340B9-F795-4E4C-B382-0D7FF3B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9928616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531E49-A015-45FD-B396-94EEB64E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8A8"/>
                </a:solidFill>
              </a:defRPr>
            </a:pPr>
            <a:r>
              <a:rPr sz="1050" b="1">
                <a:solidFill>
                  <a:srgbClr val="1E88A8"/>
                </a:solidFill>
              </a:rPr>
              <a:t>沖繩 2026 家族自駕行程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19539-B96A-47F6-952C-27D773C9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資訊與圖片來源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665EB-9C70-4D6E-9D5D-9B1E958C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BD170-34DD-45DC-A6CD-DCE8F350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88A8"/>
                </a:solidFill>
              </a:defRPr>
            </a:pPr>
            <a:r>
              <a:rPr sz="1800" b="1">
                <a:solidFill>
                  <a:srgbClr val="1E88A8"/>
                </a:solidFill>
              </a:rPr>
              <a:t>營業與交通資訊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46214-7697-4817-A72C-8F55A19A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美麗海水族館官方 Hours / Closed：https://churaumi.okinawa/en/guide/hour/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AA920-D2E7-4C18-8187-002D51BB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DMM Kariyushi Aquarium 官方 Opening Hours：https://en.kariyushi-aquarium.com/opening-hours/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F9103-D034-4603-810F-E5FF47DE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第一牧志公設市場資訊：https://enjoyokinawa.cerulean-blue.co.jp/en/tourism/81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9F13A-E02E-4A47-8DC1-F3D2266D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Costco 沖繩南城倉庫店：https://www.costco.co.jp/store-finder/Okinawa%20Nanjo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87E66-8852-4E6F-9B14-1078C341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AEON Mall Okinawa Rycom 官方營業時間：https://okinawarycom-aeonmall.com/static/detail/serviceguide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A58D0-F9FA-492A-BF83-FC986379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美國村官方交通資訊：https://www.okinawa-americanvillage.com/en/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64609-D4B7-480B-8A14-35CB96FC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59"/>
                </a:solidFill>
              </a:defRPr>
            </a:pPr>
            <a:r>
              <a:rPr sz="1800" b="1">
                <a:solidFill>
                  <a:srgbClr val="2F7D59"/>
                </a:solidFill>
              </a:rPr>
              <a:t>實景圖片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B953A-E25E-455B-9BB1-60C762D0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美麗海：Jordy Meow, CC BY-SA 3.0, Wikimedia Commons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4DB1C-4A93-4976-AA93-6FCFF6B4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古宇利大橋：CEphoto, Uwe Aranas, CC BY-SA 3.0, Wikimedia Commons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B7506-94C0-47F9-B157-DE91C444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國際通：TurnOnTheNight, CC BY-SA 4.0, Wikimedia Commons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14ACF-8A42-485A-99D0-8AEA8F0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牧志市場：KQuhen, CC BY-SA 4.0, Wikimedia Commons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D8765-9089-4B52-9644-F266B420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美國村：Suikotei, CC BY-SA 4.0, Wikimedia Commons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B3FAC-5705-4BC7-BAE4-A55B8463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• 瀨長島：Kugel, CC BY-SA 4.0, Wikimedia Commons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21FF8-F7D9-4CFD-A971-25B7A8B6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C48"/>
                </a:solidFill>
              </a:defRPr>
            </a:pPr>
            <a:r>
              <a:rPr sz="1350" b="1">
                <a:solidFill>
                  <a:srgbClr val="D76C48"/>
                </a:solidFill>
              </a:rPr>
              <a:t>請於出發前一天再次確認餐廳訂位、租車兒童座椅、各設施臨時營業變更與天氣警報。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3CB8C-4C04-4ED4-8809-DB962EF1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B62"/>
                </a:solidFill>
              </a:defRPr>
            </a:pPr>
            <a:r>
              <a:rPr sz="900" b="0">
                <a:solidFill>
                  <a:srgbClr val="555B62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63895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2026-07-15T14:05:18.3810000Z</dcterms:created>
  <dcterms:modified xsi:type="dcterms:W3CDTF">2026-07-15T14:05:18.3810000Z</dcterms:modified>
</coreProperties>
</file>